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6733-0A92-41D4-BCFE-4901B43F411B}" type="datetimeFigureOut">
              <a:rPr lang="tr-TR" smtClean="0"/>
              <a:t>16.05.2022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026D-928A-4A47-8631-C37324E646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0033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6733-0A92-41D4-BCFE-4901B43F411B}" type="datetimeFigureOut">
              <a:rPr lang="tr-TR" smtClean="0"/>
              <a:t>16.05.2022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026D-928A-4A47-8631-C37324E646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2203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6733-0A92-41D4-BCFE-4901B43F411B}" type="datetimeFigureOut">
              <a:rPr lang="tr-TR" smtClean="0"/>
              <a:t>16.05.2022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026D-928A-4A47-8631-C37324E646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793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6733-0A92-41D4-BCFE-4901B43F411B}" type="datetimeFigureOut">
              <a:rPr lang="tr-TR" smtClean="0"/>
              <a:t>16.05.2022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026D-928A-4A47-8631-C37324E646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7491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6733-0A92-41D4-BCFE-4901B43F411B}" type="datetimeFigureOut">
              <a:rPr lang="tr-TR" smtClean="0"/>
              <a:t>16.05.2022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026D-928A-4A47-8631-C37324E646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5735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6733-0A92-41D4-BCFE-4901B43F411B}" type="datetimeFigureOut">
              <a:rPr lang="tr-TR" smtClean="0"/>
              <a:t>16.05.2022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026D-928A-4A47-8631-C37324E646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8356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6733-0A92-41D4-BCFE-4901B43F411B}" type="datetimeFigureOut">
              <a:rPr lang="tr-TR" smtClean="0"/>
              <a:t>16.05.2022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026D-928A-4A47-8631-C37324E646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217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6733-0A92-41D4-BCFE-4901B43F411B}" type="datetimeFigureOut">
              <a:rPr lang="tr-TR" smtClean="0"/>
              <a:t>16.05.2022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026D-928A-4A47-8631-C37324E646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4861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6733-0A92-41D4-BCFE-4901B43F411B}" type="datetimeFigureOut">
              <a:rPr lang="tr-TR" smtClean="0"/>
              <a:t>16.05.2022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026D-928A-4A47-8631-C37324E646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383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6733-0A92-41D4-BCFE-4901B43F411B}" type="datetimeFigureOut">
              <a:rPr lang="tr-TR" smtClean="0"/>
              <a:t>16.05.2022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026D-928A-4A47-8631-C37324E646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215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6733-0A92-41D4-BCFE-4901B43F411B}" type="datetimeFigureOut">
              <a:rPr lang="tr-TR" smtClean="0"/>
              <a:t>16.05.2022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026D-928A-4A47-8631-C37324E646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2152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F6733-0A92-41D4-BCFE-4901B43F411B}" type="datetimeFigureOut">
              <a:rPr lang="tr-TR" smtClean="0"/>
              <a:t>16.05.2022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D026D-928A-4A47-8631-C37324E646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274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o 11">
            <a:extLst>
              <a:ext uri="{FF2B5EF4-FFF2-40B4-BE49-F238E27FC236}">
                <a16:creationId xmlns:a16="http://schemas.microsoft.com/office/drawing/2014/main" id="{EB08E0BC-BF3E-48C6-B53E-BC385C8B3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762445"/>
              </p:ext>
            </p:extLst>
          </p:nvPr>
        </p:nvGraphicFramePr>
        <p:xfrm>
          <a:off x="378120" y="1515569"/>
          <a:ext cx="11480800" cy="492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96">
                  <a:extLst>
                    <a:ext uri="{9D8B030D-6E8A-4147-A177-3AD203B41FA5}">
                      <a16:colId xmlns:a16="http://schemas.microsoft.com/office/drawing/2014/main" val="3067628636"/>
                    </a:ext>
                  </a:extLst>
                </a:gridCol>
                <a:gridCol w="1138033">
                  <a:extLst>
                    <a:ext uri="{9D8B030D-6E8A-4147-A177-3AD203B41FA5}">
                      <a16:colId xmlns:a16="http://schemas.microsoft.com/office/drawing/2014/main" val="1101944127"/>
                    </a:ext>
                  </a:extLst>
                </a:gridCol>
                <a:gridCol w="1131217">
                  <a:extLst>
                    <a:ext uri="{9D8B030D-6E8A-4147-A177-3AD203B41FA5}">
                      <a16:colId xmlns:a16="http://schemas.microsoft.com/office/drawing/2014/main" val="3368013886"/>
                    </a:ext>
                  </a:extLst>
                </a:gridCol>
                <a:gridCol w="1140643">
                  <a:extLst>
                    <a:ext uri="{9D8B030D-6E8A-4147-A177-3AD203B41FA5}">
                      <a16:colId xmlns:a16="http://schemas.microsoft.com/office/drawing/2014/main" val="1410696270"/>
                    </a:ext>
                  </a:extLst>
                </a:gridCol>
                <a:gridCol w="1677971">
                  <a:extLst>
                    <a:ext uri="{9D8B030D-6E8A-4147-A177-3AD203B41FA5}">
                      <a16:colId xmlns:a16="http://schemas.microsoft.com/office/drawing/2014/main" val="3125648767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2494064465"/>
                    </a:ext>
                  </a:extLst>
                </a:gridCol>
                <a:gridCol w="1291472">
                  <a:extLst>
                    <a:ext uri="{9D8B030D-6E8A-4147-A177-3AD203B41FA5}">
                      <a16:colId xmlns:a16="http://schemas.microsoft.com/office/drawing/2014/main" val="669797887"/>
                    </a:ext>
                  </a:extLst>
                </a:gridCol>
                <a:gridCol w="2769805">
                  <a:extLst>
                    <a:ext uri="{9D8B030D-6E8A-4147-A177-3AD203B41FA5}">
                      <a16:colId xmlns:a16="http://schemas.microsoft.com/office/drawing/2014/main" val="3009789290"/>
                    </a:ext>
                  </a:extLst>
                </a:gridCol>
              </a:tblGrid>
              <a:tr h="723712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MODEL </a:t>
                      </a:r>
                      <a:r>
                        <a:rPr lang="tr-TR" dirty="0" smtClean="0"/>
                        <a:t>No (Com No)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ERRAT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VERIFY3D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/>
                        <a:t>Qmean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/>
                        <a:t>QmeanDisCo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ProSA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Ramachandran</a:t>
                      </a:r>
                      <a:endParaRPr lang="tr-TR" sz="18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372570"/>
                  </a:ext>
                </a:extLst>
              </a:tr>
              <a:tr h="723712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27  (17)</a:t>
                      </a:r>
                      <a:endParaRPr lang="tr-T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80.7292</a:t>
                      </a:r>
                      <a:endParaRPr lang="tr-T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98.48%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-1.96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0.76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-10.36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-45906.5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MFR </a:t>
                      </a:r>
                      <a:r>
                        <a:rPr lang="tr-TR" dirty="0" smtClean="0"/>
                        <a:t>93.9% </a:t>
                      </a:r>
                      <a:r>
                        <a:rPr lang="tr-TR" dirty="0"/>
                        <a:t>; AAR </a:t>
                      </a:r>
                      <a:r>
                        <a:rPr lang="tr-TR" dirty="0" smtClean="0"/>
                        <a:t>5.9% </a:t>
                      </a:r>
                      <a:r>
                        <a:rPr lang="tr-TR" dirty="0"/>
                        <a:t>;</a:t>
                      </a:r>
                    </a:p>
                    <a:p>
                      <a:pPr algn="ctr"/>
                      <a:r>
                        <a:rPr lang="tr-TR" dirty="0"/>
                        <a:t> GAR 0.6% ; DAR </a:t>
                      </a:r>
                      <a:r>
                        <a:rPr lang="tr-TR" dirty="0" smtClean="0"/>
                        <a:t>0.0%</a:t>
                      </a:r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1956079"/>
                  </a:ext>
                </a:extLst>
              </a:tr>
              <a:tr h="413550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71 (17)</a:t>
                      </a:r>
                      <a:endParaRPr lang="tr-T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74.6114</a:t>
                      </a:r>
                      <a:endParaRPr lang="tr-T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100.00%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-1.62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0.77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-10.39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-45943.6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MFR </a:t>
                      </a:r>
                      <a:r>
                        <a:rPr lang="tr-TR" dirty="0" smtClean="0"/>
                        <a:t>94.8% </a:t>
                      </a:r>
                      <a:r>
                        <a:rPr lang="tr-TR" dirty="0"/>
                        <a:t>; AAR </a:t>
                      </a:r>
                      <a:r>
                        <a:rPr lang="tr-TR" dirty="0" smtClean="0"/>
                        <a:t>4.7% </a:t>
                      </a:r>
                      <a:r>
                        <a:rPr lang="tr-TR" dirty="0"/>
                        <a:t>;</a:t>
                      </a:r>
                    </a:p>
                    <a:p>
                      <a:pPr algn="ctr"/>
                      <a:r>
                        <a:rPr lang="tr-TR" dirty="0"/>
                        <a:t> GAR </a:t>
                      </a:r>
                      <a:r>
                        <a:rPr lang="tr-TR" dirty="0" smtClean="0"/>
                        <a:t>0.6% </a:t>
                      </a:r>
                      <a:r>
                        <a:rPr lang="tr-TR" dirty="0"/>
                        <a:t>; DAR </a:t>
                      </a:r>
                      <a:r>
                        <a:rPr lang="tr-TR" dirty="0" smtClean="0"/>
                        <a:t>0.0%</a:t>
                      </a:r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134466"/>
                  </a:ext>
                </a:extLst>
              </a:tr>
              <a:tr h="413550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30 (18)</a:t>
                      </a:r>
                      <a:endParaRPr lang="tr-T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80.829</a:t>
                      </a:r>
                      <a:endParaRPr lang="tr-T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99.75%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-1.56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0.77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-10.35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-45675.0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MFR </a:t>
                      </a:r>
                      <a:r>
                        <a:rPr lang="tr-TR" dirty="0" smtClean="0"/>
                        <a:t>94.2% </a:t>
                      </a:r>
                      <a:r>
                        <a:rPr lang="tr-TR" dirty="0"/>
                        <a:t>; AAR </a:t>
                      </a:r>
                      <a:r>
                        <a:rPr lang="tr-TR" dirty="0" smtClean="0"/>
                        <a:t>5.5% </a:t>
                      </a:r>
                      <a:r>
                        <a:rPr lang="tr-TR" dirty="0"/>
                        <a:t>;</a:t>
                      </a:r>
                    </a:p>
                    <a:p>
                      <a:pPr algn="ctr"/>
                      <a:r>
                        <a:rPr lang="tr-TR" dirty="0"/>
                        <a:t> GAR </a:t>
                      </a:r>
                      <a:r>
                        <a:rPr lang="tr-TR" dirty="0" smtClean="0"/>
                        <a:t>0.3% </a:t>
                      </a:r>
                      <a:r>
                        <a:rPr lang="tr-TR" dirty="0"/>
                        <a:t>; DAR </a:t>
                      </a:r>
                      <a:r>
                        <a:rPr lang="tr-TR" dirty="0" smtClean="0"/>
                        <a:t>0.0%</a:t>
                      </a:r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339904"/>
                  </a:ext>
                </a:extLst>
              </a:tr>
              <a:tr h="413550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>
                          <a:solidFill>
                            <a:srgbClr val="FF0000"/>
                          </a:solidFill>
                        </a:rPr>
                        <a:t>64</a:t>
                      </a:r>
                      <a:r>
                        <a:rPr lang="tr-TR" b="1" baseline="0" dirty="0" smtClean="0">
                          <a:solidFill>
                            <a:srgbClr val="FF0000"/>
                          </a:solidFill>
                        </a:rPr>
                        <a:t> (18)</a:t>
                      </a:r>
                      <a:endParaRPr lang="tr-TR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76.6839</a:t>
                      </a:r>
                      <a:endParaRPr lang="tr-T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0" dirty="0" smtClean="0">
                          <a:solidFill>
                            <a:schemeClr val="tx1"/>
                          </a:solidFill>
                        </a:rPr>
                        <a:t>98.98%</a:t>
                      </a:r>
                      <a:endParaRPr lang="tr-T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0" dirty="0" smtClean="0">
                          <a:solidFill>
                            <a:schemeClr val="tx1"/>
                          </a:solidFill>
                        </a:rPr>
                        <a:t>-1.71</a:t>
                      </a:r>
                      <a:endParaRPr lang="tr-T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0" dirty="0" smtClean="0">
                          <a:solidFill>
                            <a:schemeClr val="tx1"/>
                          </a:solidFill>
                        </a:rPr>
                        <a:t>0.77</a:t>
                      </a:r>
                      <a:endParaRPr lang="tr-T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0" dirty="0" smtClean="0">
                          <a:solidFill>
                            <a:schemeClr val="tx1"/>
                          </a:solidFill>
                        </a:rPr>
                        <a:t>-10.38</a:t>
                      </a:r>
                      <a:endParaRPr lang="tr-T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0" dirty="0" smtClean="0">
                          <a:solidFill>
                            <a:schemeClr val="tx1"/>
                          </a:solidFill>
                        </a:rPr>
                        <a:t>-45622.5</a:t>
                      </a:r>
                      <a:endParaRPr lang="tr-T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0" dirty="0">
                          <a:solidFill>
                            <a:schemeClr val="tx1"/>
                          </a:solidFill>
                        </a:rPr>
                        <a:t>MFR </a:t>
                      </a:r>
                      <a:r>
                        <a:rPr lang="tr-TR" b="0" dirty="0" smtClean="0">
                          <a:solidFill>
                            <a:schemeClr val="tx1"/>
                          </a:solidFill>
                        </a:rPr>
                        <a:t>94.5% </a:t>
                      </a:r>
                      <a:r>
                        <a:rPr lang="tr-TR" b="0" dirty="0">
                          <a:solidFill>
                            <a:schemeClr val="tx1"/>
                          </a:solidFill>
                        </a:rPr>
                        <a:t>; AAR </a:t>
                      </a:r>
                      <a:r>
                        <a:rPr lang="tr-TR" b="0" dirty="0" smtClean="0">
                          <a:solidFill>
                            <a:schemeClr val="tx1"/>
                          </a:solidFill>
                        </a:rPr>
                        <a:t>5.2% </a:t>
                      </a:r>
                      <a:r>
                        <a:rPr lang="tr-TR" b="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pPr algn="ctr"/>
                      <a:r>
                        <a:rPr lang="tr-TR" b="0" dirty="0">
                          <a:solidFill>
                            <a:schemeClr val="tx1"/>
                          </a:solidFill>
                        </a:rPr>
                        <a:t> GAR 0.3% ; DAR 0.0%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607278"/>
                  </a:ext>
                </a:extLst>
              </a:tr>
              <a:tr h="413550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43 (19)</a:t>
                      </a:r>
                      <a:endParaRPr lang="tr-T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77.4611</a:t>
                      </a:r>
                      <a:endParaRPr lang="tr-T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96.95%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-1.74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0.77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-10.46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-45713.7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MFR </a:t>
                      </a:r>
                      <a:r>
                        <a:rPr lang="tr-TR" dirty="0" smtClean="0"/>
                        <a:t>93.3% </a:t>
                      </a:r>
                      <a:r>
                        <a:rPr lang="tr-TR" dirty="0"/>
                        <a:t>; AAR </a:t>
                      </a:r>
                      <a:r>
                        <a:rPr lang="tr-TR" dirty="0" smtClean="0"/>
                        <a:t>6.1% </a:t>
                      </a:r>
                      <a:r>
                        <a:rPr lang="tr-TR" dirty="0"/>
                        <a:t>;</a:t>
                      </a:r>
                    </a:p>
                    <a:p>
                      <a:pPr algn="ctr"/>
                      <a:r>
                        <a:rPr lang="tr-TR" dirty="0"/>
                        <a:t> GAR </a:t>
                      </a:r>
                      <a:r>
                        <a:rPr lang="tr-TR" dirty="0" smtClean="0"/>
                        <a:t>0.3% </a:t>
                      </a:r>
                      <a:r>
                        <a:rPr lang="tr-TR" dirty="0"/>
                        <a:t>; DAR 0.3%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078099"/>
                  </a:ext>
                </a:extLst>
              </a:tr>
              <a:tr h="413550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46 (19)</a:t>
                      </a:r>
                      <a:endParaRPr lang="tr-T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70.9845</a:t>
                      </a:r>
                      <a:endParaRPr lang="tr-T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96.95%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-1.53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smtClean="0"/>
                        <a:t>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-10.31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-45947.3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MFR 94.5% ; AAR 4.7% ;</a:t>
                      </a:r>
                    </a:p>
                    <a:p>
                      <a:pPr algn="ctr"/>
                      <a:r>
                        <a:rPr lang="tr-TR" dirty="0" smtClean="0"/>
                        <a:t> GAR 0.9% ; DAR 0.3%</a:t>
                      </a:r>
                    </a:p>
                    <a:p>
                      <a:pPr algn="ctr"/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3653832"/>
                  </a:ext>
                </a:extLst>
              </a:tr>
            </a:tbl>
          </a:graphicData>
        </a:graphic>
      </p:graphicFrame>
      <p:sp>
        <p:nvSpPr>
          <p:cNvPr id="12" name="Metin kutusu 11">
            <a:extLst>
              <a:ext uri="{FF2B5EF4-FFF2-40B4-BE49-F238E27FC236}">
                <a16:creationId xmlns:a16="http://schemas.microsoft.com/office/drawing/2014/main" id="{3965E156-1DE7-4C47-88AF-5B36730B128D}"/>
              </a:ext>
            </a:extLst>
          </p:cNvPr>
          <p:cNvSpPr txBox="1"/>
          <p:nvPr/>
        </p:nvSpPr>
        <p:spPr>
          <a:xfrm>
            <a:off x="965724" y="413621"/>
            <a:ext cx="11226276" cy="641023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algn="l"/>
            <a:r>
              <a:rPr lang="tr-TR" sz="4000" b="1" dirty="0" err="1">
                <a:latin typeface="+mj-lt"/>
              </a:rPr>
              <a:t>Minimizasyon</a:t>
            </a:r>
            <a:r>
              <a:rPr lang="tr-TR" sz="4000" b="1" dirty="0">
                <a:latin typeface="+mj-lt"/>
              </a:rPr>
              <a:t> öncesi </a:t>
            </a:r>
            <a:r>
              <a:rPr lang="tr-TR" sz="4000" b="1" dirty="0" err="1">
                <a:latin typeface="+mj-lt"/>
              </a:rPr>
              <a:t>Validasyon</a:t>
            </a:r>
            <a:r>
              <a:rPr lang="tr-TR" sz="4000" b="1" dirty="0">
                <a:latin typeface="+mj-lt"/>
              </a:rPr>
              <a:t> değerleri</a:t>
            </a:r>
          </a:p>
        </p:txBody>
      </p:sp>
    </p:spTree>
    <p:extLst>
      <p:ext uri="{BB962C8B-B14F-4D97-AF65-F5344CB8AC3E}">
        <p14:creationId xmlns:p14="http://schemas.microsoft.com/office/powerpoint/2010/main" val="1473372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Minimizasyon </a:t>
            </a:r>
            <a:r>
              <a:rPr lang="tr-TR" b="1" dirty="0" smtClean="0"/>
              <a:t>sonrası </a:t>
            </a:r>
            <a:r>
              <a:rPr lang="tr-TR" b="1" dirty="0"/>
              <a:t>Validasyon </a:t>
            </a:r>
            <a:r>
              <a:rPr lang="tr-TR" b="1" dirty="0" smtClean="0"/>
              <a:t>değerleri</a:t>
            </a:r>
            <a:endParaRPr lang="tr-TR" dirty="0"/>
          </a:p>
        </p:txBody>
      </p:sp>
      <p:graphicFrame>
        <p:nvGraphicFramePr>
          <p:cNvPr id="5" name="Tablo 11">
            <a:extLst>
              <a:ext uri="{FF2B5EF4-FFF2-40B4-BE49-F238E27FC236}">
                <a16:creationId xmlns:a16="http://schemas.microsoft.com/office/drawing/2014/main" id="{EB08E0BC-BF3E-48C6-B53E-BC385C8B3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350646"/>
              </p:ext>
            </p:extLst>
          </p:nvPr>
        </p:nvGraphicFramePr>
        <p:xfrm>
          <a:off x="378120" y="1515569"/>
          <a:ext cx="11480800" cy="492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96">
                  <a:extLst>
                    <a:ext uri="{9D8B030D-6E8A-4147-A177-3AD203B41FA5}">
                      <a16:colId xmlns:a16="http://schemas.microsoft.com/office/drawing/2014/main" val="3067628636"/>
                    </a:ext>
                  </a:extLst>
                </a:gridCol>
                <a:gridCol w="1138033">
                  <a:extLst>
                    <a:ext uri="{9D8B030D-6E8A-4147-A177-3AD203B41FA5}">
                      <a16:colId xmlns:a16="http://schemas.microsoft.com/office/drawing/2014/main" val="1101944127"/>
                    </a:ext>
                  </a:extLst>
                </a:gridCol>
                <a:gridCol w="1131217">
                  <a:extLst>
                    <a:ext uri="{9D8B030D-6E8A-4147-A177-3AD203B41FA5}">
                      <a16:colId xmlns:a16="http://schemas.microsoft.com/office/drawing/2014/main" val="3368013886"/>
                    </a:ext>
                  </a:extLst>
                </a:gridCol>
                <a:gridCol w="1140643">
                  <a:extLst>
                    <a:ext uri="{9D8B030D-6E8A-4147-A177-3AD203B41FA5}">
                      <a16:colId xmlns:a16="http://schemas.microsoft.com/office/drawing/2014/main" val="1410696270"/>
                    </a:ext>
                  </a:extLst>
                </a:gridCol>
                <a:gridCol w="1677971">
                  <a:extLst>
                    <a:ext uri="{9D8B030D-6E8A-4147-A177-3AD203B41FA5}">
                      <a16:colId xmlns:a16="http://schemas.microsoft.com/office/drawing/2014/main" val="3125648767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2494064465"/>
                    </a:ext>
                  </a:extLst>
                </a:gridCol>
                <a:gridCol w="1291472">
                  <a:extLst>
                    <a:ext uri="{9D8B030D-6E8A-4147-A177-3AD203B41FA5}">
                      <a16:colId xmlns:a16="http://schemas.microsoft.com/office/drawing/2014/main" val="669797887"/>
                    </a:ext>
                  </a:extLst>
                </a:gridCol>
                <a:gridCol w="2769805">
                  <a:extLst>
                    <a:ext uri="{9D8B030D-6E8A-4147-A177-3AD203B41FA5}">
                      <a16:colId xmlns:a16="http://schemas.microsoft.com/office/drawing/2014/main" val="3009789290"/>
                    </a:ext>
                  </a:extLst>
                </a:gridCol>
              </a:tblGrid>
              <a:tr h="723712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MODEL </a:t>
                      </a:r>
                      <a:r>
                        <a:rPr lang="tr-TR" dirty="0" smtClean="0"/>
                        <a:t>No (Com No)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ERRAT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VERIFY3D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/>
                        <a:t>Qmean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/>
                        <a:t>QmeanDisCo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ProSA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Ramachandran</a:t>
                      </a:r>
                      <a:endParaRPr lang="tr-TR" sz="18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372570"/>
                  </a:ext>
                </a:extLst>
              </a:tr>
              <a:tr h="723712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27  (17)</a:t>
                      </a:r>
                      <a:endParaRPr lang="tr-T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98.6772</a:t>
                      </a:r>
                      <a:endParaRPr lang="tr-T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98.48%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0.23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0.80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-49920.0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MFR </a:t>
                      </a:r>
                      <a:r>
                        <a:rPr lang="tr-TR" dirty="0" smtClean="0"/>
                        <a:t>93.0% </a:t>
                      </a:r>
                      <a:r>
                        <a:rPr lang="tr-TR" dirty="0"/>
                        <a:t>; AAR </a:t>
                      </a:r>
                      <a:r>
                        <a:rPr lang="tr-TR" dirty="0" smtClean="0"/>
                        <a:t>6.7% </a:t>
                      </a:r>
                      <a:r>
                        <a:rPr lang="tr-TR" dirty="0"/>
                        <a:t>;</a:t>
                      </a:r>
                    </a:p>
                    <a:p>
                      <a:pPr algn="ctr"/>
                      <a:r>
                        <a:rPr lang="tr-TR" dirty="0"/>
                        <a:t> GAR </a:t>
                      </a:r>
                      <a:r>
                        <a:rPr lang="tr-TR" dirty="0" smtClean="0"/>
                        <a:t>0.3% </a:t>
                      </a:r>
                      <a:r>
                        <a:rPr lang="tr-TR" dirty="0"/>
                        <a:t>; DAR </a:t>
                      </a:r>
                      <a:r>
                        <a:rPr lang="tr-TR" dirty="0" smtClean="0"/>
                        <a:t>0.0%</a:t>
                      </a:r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1956079"/>
                  </a:ext>
                </a:extLst>
              </a:tr>
              <a:tr h="413550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71 (17)</a:t>
                      </a:r>
                      <a:endParaRPr lang="tr-T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98.6807</a:t>
                      </a:r>
                      <a:endParaRPr lang="tr-T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94.67%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0.04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0.81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-49760.8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MFR </a:t>
                      </a:r>
                      <a:r>
                        <a:rPr lang="tr-TR" dirty="0" smtClean="0"/>
                        <a:t>93.9% </a:t>
                      </a:r>
                      <a:r>
                        <a:rPr lang="tr-TR" dirty="0"/>
                        <a:t>; AAR </a:t>
                      </a:r>
                      <a:r>
                        <a:rPr lang="tr-TR" dirty="0" smtClean="0"/>
                        <a:t>5.5% </a:t>
                      </a:r>
                      <a:r>
                        <a:rPr lang="tr-TR" dirty="0"/>
                        <a:t>;</a:t>
                      </a:r>
                    </a:p>
                    <a:p>
                      <a:pPr algn="ctr"/>
                      <a:r>
                        <a:rPr lang="tr-TR" dirty="0"/>
                        <a:t> GAR </a:t>
                      </a:r>
                      <a:r>
                        <a:rPr lang="tr-TR" dirty="0" smtClean="0"/>
                        <a:t>0.6% </a:t>
                      </a:r>
                      <a:r>
                        <a:rPr lang="tr-TR" dirty="0"/>
                        <a:t>; DAR </a:t>
                      </a:r>
                      <a:r>
                        <a:rPr lang="tr-TR" dirty="0" smtClean="0"/>
                        <a:t>0.0%</a:t>
                      </a:r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134466"/>
                  </a:ext>
                </a:extLst>
              </a:tr>
              <a:tr h="413550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30 (18)</a:t>
                      </a:r>
                      <a:endParaRPr lang="tr-T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99.4737</a:t>
                      </a:r>
                      <a:endParaRPr lang="tr-T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96.70%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-0.42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b="0" dirty="0" smtClean="0">
                          <a:solidFill>
                            <a:schemeClr val="tx1"/>
                          </a:solidFill>
                        </a:rPr>
                        <a:t>0.81</a:t>
                      </a:r>
                    </a:p>
                    <a:p>
                      <a:pPr algn="ctr"/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-49773.1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MFR </a:t>
                      </a:r>
                      <a:r>
                        <a:rPr lang="tr-TR" dirty="0" smtClean="0"/>
                        <a:t>93.3% </a:t>
                      </a:r>
                      <a:r>
                        <a:rPr lang="tr-TR" dirty="0"/>
                        <a:t>; AAR </a:t>
                      </a:r>
                      <a:r>
                        <a:rPr lang="tr-TR" dirty="0" smtClean="0"/>
                        <a:t>6.4% </a:t>
                      </a:r>
                      <a:r>
                        <a:rPr lang="tr-TR" dirty="0"/>
                        <a:t>;</a:t>
                      </a:r>
                    </a:p>
                    <a:p>
                      <a:pPr algn="ctr"/>
                      <a:r>
                        <a:rPr lang="tr-TR" dirty="0"/>
                        <a:t> GAR </a:t>
                      </a:r>
                      <a:r>
                        <a:rPr lang="tr-TR" dirty="0" smtClean="0"/>
                        <a:t>0.3% </a:t>
                      </a:r>
                      <a:r>
                        <a:rPr lang="tr-TR" dirty="0"/>
                        <a:t>; DAR </a:t>
                      </a:r>
                      <a:r>
                        <a:rPr lang="tr-TR" dirty="0" smtClean="0"/>
                        <a:t>0.0%</a:t>
                      </a:r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339904"/>
                  </a:ext>
                </a:extLst>
              </a:tr>
              <a:tr h="413550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>
                          <a:solidFill>
                            <a:schemeClr val="tx1"/>
                          </a:solidFill>
                        </a:rPr>
                        <a:t>64</a:t>
                      </a:r>
                      <a:r>
                        <a:rPr lang="tr-TR" b="1" baseline="0" dirty="0" smtClean="0">
                          <a:solidFill>
                            <a:schemeClr val="tx1"/>
                          </a:solidFill>
                        </a:rPr>
                        <a:t> (18)</a:t>
                      </a:r>
                      <a:endParaRPr lang="tr-TR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98.6911</a:t>
                      </a:r>
                      <a:endParaRPr lang="tr-T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0" dirty="0" smtClean="0">
                          <a:solidFill>
                            <a:schemeClr val="tx1"/>
                          </a:solidFill>
                        </a:rPr>
                        <a:t>100.00%</a:t>
                      </a:r>
                      <a:endParaRPr lang="tr-T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0" dirty="0" smtClean="0">
                          <a:solidFill>
                            <a:schemeClr val="tx1"/>
                          </a:solidFill>
                        </a:rPr>
                        <a:t>0.06</a:t>
                      </a:r>
                      <a:endParaRPr lang="tr-T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0" dirty="0" smtClean="0">
                          <a:solidFill>
                            <a:schemeClr val="tx1"/>
                          </a:solidFill>
                        </a:rPr>
                        <a:t>0.81</a:t>
                      </a:r>
                      <a:endParaRPr lang="tr-T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0" dirty="0" smtClean="0">
                          <a:solidFill>
                            <a:schemeClr val="tx1"/>
                          </a:solidFill>
                        </a:rPr>
                        <a:t>-49577.6</a:t>
                      </a:r>
                      <a:endParaRPr lang="tr-T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0" dirty="0">
                          <a:solidFill>
                            <a:schemeClr val="tx1"/>
                          </a:solidFill>
                        </a:rPr>
                        <a:t>MFR </a:t>
                      </a:r>
                      <a:r>
                        <a:rPr lang="tr-TR" b="0" dirty="0" smtClean="0">
                          <a:solidFill>
                            <a:schemeClr val="tx1"/>
                          </a:solidFill>
                        </a:rPr>
                        <a:t>93.9% </a:t>
                      </a:r>
                      <a:r>
                        <a:rPr lang="tr-TR" b="0" dirty="0">
                          <a:solidFill>
                            <a:schemeClr val="tx1"/>
                          </a:solidFill>
                        </a:rPr>
                        <a:t>; AAR </a:t>
                      </a:r>
                      <a:r>
                        <a:rPr lang="tr-TR" b="0" dirty="0" smtClean="0">
                          <a:solidFill>
                            <a:schemeClr val="tx1"/>
                          </a:solidFill>
                        </a:rPr>
                        <a:t>5.5% </a:t>
                      </a:r>
                      <a:r>
                        <a:rPr lang="tr-TR" b="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pPr algn="ctr"/>
                      <a:r>
                        <a:rPr lang="tr-TR" b="0" dirty="0">
                          <a:solidFill>
                            <a:schemeClr val="tx1"/>
                          </a:solidFill>
                        </a:rPr>
                        <a:t> GAR </a:t>
                      </a:r>
                      <a:r>
                        <a:rPr lang="tr-TR" b="0" dirty="0" smtClean="0">
                          <a:solidFill>
                            <a:schemeClr val="tx1"/>
                          </a:solidFill>
                        </a:rPr>
                        <a:t>0.6% </a:t>
                      </a:r>
                      <a:r>
                        <a:rPr lang="tr-TR" b="0" dirty="0">
                          <a:solidFill>
                            <a:schemeClr val="tx1"/>
                          </a:solidFill>
                        </a:rPr>
                        <a:t>; DAR 0.0%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607278"/>
                  </a:ext>
                </a:extLst>
              </a:tr>
              <a:tr h="413550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43 (19)</a:t>
                      </a:r>
                      <a:endParaRPr lang="tr-T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97.6501</a:t>
                      </a:r>
                      <a:endParaRPr lang="tr-T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99.75%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0.00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0.81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-49808.8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MFR </a:t>
                      </a:r>
                      <a:r>
                        <a:rPr lang="tr-TR" dirty="0" smtClean="0"/>
                        <a:t>93.6% </a:t>
                      </a:r>
                      <a:r>
                        <a:rPr lang="tr-TR" dirty="0"/>
                        <a:t>; AAR </a:t>
                      </a:r>
                      <a:r>
                        <a:rPr lang="tr-TR" dirty="0" smtClean="0"/>
                        <a:t>6.1% </a:t>
                      </a:r>
                      <a:r>
                        <a:rPr lang="tr-TR" dirty="0"/>
                        <a:t>;</a:t>
                      </a:r>
                    </a:p>
                    <a:p>
                      <a:pPr algn="ctr"/>
                      <a:r>
                        <a:rPr lang="tr-TR" dirty="0"/>
                        <a:t> GAR </a:t>
                      </a:r>
                      <a:r>
                        <a:rPr lang="tr-TR" dirty="0" smtClean="0"/>
                        <a:t>0.0% </a:t>
                      </a:r>
                      <a:r>
                        <a:rPr lang="tr-TR" dirty="0"/>
                        <a:t>; DAR 0.3%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078099"/>
                  </a:ext>
                </a:extLst>
              </a:tr>
              <a:tr h="413550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46 (19)</a:t>
                      </a:r>
                      <a:endParaRPr lang="tr-T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93.9791</a:t>
                      </a:r>
                      <a:endParaRPr lang="tr-T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100.00%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-0.03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smtClean="0"/>
                        <a:t>0.81</a:t>
                      </a:r>
                      <a:endParaRPr lang="tr-T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49792.8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MFR </a:t>
                      </a:r>
                      <a:r>
                        <a:rPr lang="tr-TR" dirty="0" smtClean="0"/>
                        <a:t>94.2% </a:t>
                      </a:r>
                      <a:r>
                        <a:rPr lang="tr-TR" dirty="0" smtClean="0"/>
                        <a:t>; AAR </a:t>
                      </a:r>
                      <a:r>
                        <a:rPr lang="tr-TR" dirty="0" smtClean="0"/>
                        <a:t>5.8% </a:t>
                      </a:r>
                      <a:r>
                        <a:rPr lang="tr-TR" dirty="0" smtClean="0"/>
                        <a:t>;</a:t>
                      </a:r>
                    </a:p>
                    <a:p>
                      <a:pPr algn="ctr"/>
                      <a:r>
                        <a:rPr lang="tr-TR" dirty="0" smtClean="0"/>
                        <a:t> GAR </a:t>
                      </a:r>
                      <a:r>
                        <a:rPr lang="tr-TR" dirty="0" smtClean="0"/>
                        <a:t>0.0% </a:t>
                      </a:r>
                      <a:r>
                        <a:rPr lang="tr-TR" dirty="0" smtClean="0"/>
                        <a:t>; DAR </a:t>
                      </a:r>
                      <a:r>
                        <a:rPr lang="tr-TR" dirty="0" smtClean="0"/>
                        <a:t>0.0%</a:t>
                      </a:r>
                      <a:endParaRPr lang="tr-TR" dirty="0" smtClean="0"/>
                    </a:p>
                    <a:p>
                      <a:pPr algn="ctr"/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3653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581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377</Words>
  <Application>Microsoft Office PowerPoint</Application>
  <PresentationFormat>Widescreen</PresentationFormat>
  <Paragraphs>120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Minimizasyon sonrası Validasyon değerleri</vt:lpstr>
    </vt:vector>
  </TitlesOfParts>
  <Company>NouS/TncTR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11</cp:revision>
  <dcterms:created xsi:type="dcterms:W3CDTF">2022-05-12T15:00:58Z</dcterms:created>
  <dcterms:modified xsi:type="dcterms:W3CDTF">2022-05-16T10:47:26Z</dcterms:modified>
</cp:coreProperties>
</file>